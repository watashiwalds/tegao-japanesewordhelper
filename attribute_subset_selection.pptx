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>
                <a:solidFill>
                  <a:srgbClr val="000000"/>
                </a:solidFill>
              </a:defRPr>
            </a:pPr>
            <a:r>
              <a:t>Lựa chọn tập con thuộc tính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/>
            </a:pPr>
            <a:r>
              <a:t>Phần 2.6.2 - Giảm chiều dữ liệu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0000"/>
                </a:solidFill>
              </a:defRPr>
            </a:pPr>
            <a:r>
              <a:t>Tầm quan trọng của lựa chọn tập con thuộc tính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 lvl="1">
              <a:defRPr sz="1800">
                <a:solidFill>
                  <a:srgbClr val="000000"/>
                </a:solidFill>
              </a:defRPr>
            </a:pPr>
            <a:r>
              <a:t>• Tập dữ liệu phân tích có thể chứa hàng trăm thuộc tính, nhiều trong số đó không liên quan hoặc dư thừa.</a:t>
            </a:r>
          </a:p>
          <a:p>
            <a:pPr algn="l" lvl="1">
              <a:defRPr sz="1800">
                <a:solidFill>
                  <a:srgbClr val="000000"/>
                </a:solidFill>
              </a:defRPr>
            </a:pPr>
            <a:r>
              <a:t>• Ví dụ: Phân loại khách hàng dựa trên khả năng mua album nhạc mới:</a:t>
            </a:r>
          </a:p>
          <a:p>
            <a:pPr algn="l" lvl="1">
              <a:defRPr sz="1800">
                <a:solidFill>
                  <a:srgbClr val="000000"/>
                </a:solidFill>
              </a:defRPr>
            </a:pPr>
            <a:r>
              <a:t>  - Thuộc tính như số điện thoại thường không liên quan.</a:t>
            </a:r>
          </a:p>
          <a:p>
            <a:pPr algn="l" lvl="1">
              <a:defRPr sz="1800">
                <a:solidFill>
                  <a:srgbClr val="000000"/>
                </a:solidFill>
              </a:defRPr>
            </a:pPr>
            <a:r>
              <a:t>  - Thuộc tính như tuổi hoặc sở thích âm nhạc có giá trị.</a:t>
            </a:r>
          </a:p>
          <a:p>
            <a:pPr algn="l" lvl="1">
              <a:defRPr sz="1800">
                <a:solidFill>
                  <a:srgbClr val="000000"/>
                </a:solidFill>
              </a:defRPr>
            </a:pPr>
            <a:r>
              <a:t>• Việc loại bỏ thuộc tính không liên quan hoặc giữ thuộc tính dư thừa có thể:</a:t>
            </a:r>
          </a:p>
          <a:p>
            <a:pPr algn="l" lvl="1">
              <a:defRPr sz="1800">
                <a:solidFill>
                  <a:srgbClr val="000000"/>
                </a:solidFill>
              </a:defRPr>
            </a:pPr>
            <a:r>
              <a:t>  - Gây nhầm lẫn cho thuật toán khai thác.</a:t>
            </a:r>
          </a:p>
          <a:p>
            <a:pPr algn="l" lvl="1">
              <a:defRPr sz="1800">
                <a:solidFill>
                  <a:srgbClr val="000000"/>
                </a:solidFill>
              </a:defRPr>
            </a:pPr>
            <a:r>
              <a:t>  - Làm giảm chất lượng mẫu được phát hiện.</a:t>
            </a:r>
          </a:p>
          <a:p>
            <a:pPr algn="l" lvl="1">
              <a:defRPr sz="1800">
                <a:solidFill>
                  <a:srgbClr val="000000"/>
                </a:solidFill>
              </a:defRPr>
            </a:pPr>
            <a:r>
              <a:t>  - Làm chậm quá trình khai thác dữ liệu.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0000"/>
                </a:solidFill>
              </a:defRPr>
            </a:pPr>
            <a:r>
              <a:t>Mục tiêu của lựa chọn tập con thuộc tính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 lvl="1">
              <a:defRPr sz="1800">
                <a:solidFill>
                  <a:srgbClr val="000000"/>
                </a:solidFill>
              </a:defRPr>
            </a:pPr>
            <a:r>
              <a:t>• Giảm kích thước tập dữ liệu bằng cách loại bỏ các thuộc tính không liên quan hoặc dư thừa.</a:t>
            </a:r>
          </a:p>
          <a:p>
            <a:pPr algn="l" lvl="1">
              <a:defRPr sz="1800">
                <a:solidFill>
                  <a:srgbClr val="000000"/>
                </a:solidFill>
              </a:defRPr>
            </a:pPr>
            <a:r>
              <a:t>• Tập trung khai thác vào các thuộc tính liên quan.</a:t>
            </a:r>
          </a:p>
          <a:p>
            <a:pPr algn="l" lvl="1">
              <a:defRPr sz="1800">
                <a:solidFill>
                  <a:srgbClr val="000000"/>
                </a:solidFill>
              </a:defRPr>
            </a:pPr>
            <a:r>
              <a:t>• Lợi ích bổ sung:</a:t>
            </a:r>
          </a:p>
          <a:p>
            <a:pPr algn="l" lvl="1">
              <a:defRPr sz="1800">
                <a:solidFill>
                  <a:srgbClr val="000000"/>
                </a:solidFill>
              </a:defRPr>
            </a:pPr>
            <a:r>
              <a:t>  - Giảm số lượng thuộc tính xuất hiện trong các mẫu được phát hiện.</a:t>
            </a:r>
          </a:p>
          <a:p>
            <a:pPr algn="l" lvl="1">
              <a:defRPr sz="1800">
                <a:solidFill>
                  <a:srgbClr val="000000"/>
                </a:solidFill>
              </a:defRPr>
            </a:pPr>
            <a:r>
              <a:t>  - Giúp các mẫu dễ hiểu hơn.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0000"/>
                </a:solidFill>
              </a:defRPr>
            </a:pPr>
            <a:r>
              <a:t>Thách thức trong lựa chọn tập con thuộc tính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 lvl="1">
              <a:defRPr sz="1800">
                <a:solidFill>
                  <a:srgbClr val="000000"/>
                </a:solidFill>
              </a:defRPr>
            </a:pPr>
            <a:r>
              <a:t>• Với d thuộc tính, có 2^d tập con có thể có → Tìm kiếm toàn diện là không khả thi.</a:t>
            </a:r>
          </a:p>
          <a:p>
            <a:pPr algn="l" lvl="1">
              <a:defRPr sz="1800">
                <a:solidFill>
                  <a:srgbClr val="000000"/>
                </a:solidFill>
              </a:defRPr>
            </a:pPr>
            <a:r>
              <a:t>• Các phương pháp heuristic (tham lam) được sử dụng để khám phá không gian tìm kiếm thu hẹp:</a:t>
            </a:r>
          </a:p>
          <a:p>
            <a:pPr algn="l" lvl="1">
              <a:defRPr sz="1800">
                <a:solidFill>
                  <a:srgbClr val="000000"/>
                </a:solidFill>
              </a:defRPr>
            </a:pPr>
            <a:r>
              <a:t>  - Lựa chọn tốt nhất cục bộ tại mỗi bước.</a:t>
            </a:r>
          </a:p>
          <a:p>
            <a:pPr algn="l" lvl="1">
              <a:defRPr sz="1800">
                <a:solidFill>
                  <a:srgbClr val="000000"/>
                </a:solidFill>
              </a:defRPr>
            </a:pPr>
            <a:r>
              <a:t>  - Hy vọng dẫn đến giải pháp tốt toàn cục.</a:t>
            </a:r>
          </a:p>
          <a:p>
            <a:pPr algn="l" lvl="1">
              <a:defRPr sz="1800">
                <a:solidFill>
                  <a:srgbClr val="000000"/>
                </a:solidFill>
              </a:defRPr>
            </a:pPr>
            <a:r>
              <a:t>• Các thuộc tính tốt nhất và tệ nhất thường được xác định bằng kiểm định thống kê.</a:t>
            </a:r>
          </a:p>
          <a:p>
            <a:pPr algn="l" lvl="1">
              <a:defRPr sz="1800">
                <a:solidFill>
                  <a:srgbClr val="000000"/>
                </a:solidFill>
              </a:defRPr>
            </a:pPr>
            <a:r>
              <a:t>• Có thể sử dụng các thước đo khác, như information gain trong cây quyết định.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0000"/>
                </a:solidFill>
              </a:defRPr>
            </a:pPr>
            <a:r>
              <a:t>Các phương pháp heuristic cơ bản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defRPr sz="1800">
                <a:solidFill>
                  <a:srgbClr val="000000"/>
                </a:solidFill>
              </a:defRPr>
            </a:pPr>
            <a:r>
              <a:t>1. Lựa chọn tiến từng bước (Stepwise Forward Selection):</a:t>
            </a:r>
          </a:p>
          <a:p>
            <a:pPr algn="l" lvl="1">
              <a:defRPr sz="1800">
                <a:solidFill>
                  <a:srgbClr val="000000"/>
                </a:solidFill>
              </a:defRPr>
            </a:pPr>
            <a:r>
              <a:t>  - Bắt đầu với tập rỗng.</a:t>
            </a:r>
          </a:p>
          <a:p>
            <a:pPr algn="l" lvl="1">
              <a:defRPr sz="1800">
                <a:solidFill>
                  <a:srgbClr val="000000"/>
                </a:solidFill>
              </a:defRPr>
            </a:pPr>
            <a:r>
              <a:t>  - Thêm thuộc tính tốt nhất từ tập ban đầu vào mỗi bước.</a:t>
            </a:r>
          </a:p>
          <a:p>
            <a:pPr algn="l">
              <a:defRPr sz="1800">
                <a:solidFill>
                  <a:srgbClr val="000000"/>
                </a:solidFill>
              </a:defRPr>
            </a:pPr>
            <a:r>
              <a:t>2. Loại bỏ lùi từng bước (Stepwise Backward Elimination):</a:t>
            </a:r>
          </a:p>
          <a:p>
            <a:pPr algn="l" lvl="1">
              <a:defRPr sz="1800">
                <a:solidFill>
                  <a:srgbClr val="000000"/>
                </a:solidFill>
              </a:defRPr>
            </a:pPr>
            <a:r>
              <a:t>  - Bắt đầu với toàn bộ tập thuộc tính.</a:t>
            </a:r>
          </a:p>
          <a:p>
            <a:pPr algn="l" lvl="1">
              <a:defRPr sz="1800">
                <a:solidFill>
                  <a:srgbClr val="000000"/>
                </a:solidFill>
              </a:defRPr>
            </a:pPr>
            <a:r>
              <a:t>  - Loại bỏ thuộc tính tệ nhất ở mỗi bước.</a:t>
            </a:r>
          </a:p>
          <a:p>
            <a:pPr algn="l">
              <a:defRPr sz="1800">
                <a:solidFill>
                  <a:srgbClr val="000000"/>
                </a:solidFill>
              </a:defRPr>
            </a:pPr>
            <a:r>
              <a:t>3. Kết hợp lựa chọn tiến và loại bỏ lùi:</a:t>
            </a:r>
          </a:p>
          <a:p>
            <a:pPr algn="l" lvl="1">
              <a:defRPr sz="1800">
                <a:solidFill>
                  <a:srgbClr val="000000"/>
                </a:solidFill>
              </a:defRPr>
            </a:pPr>
            <a:r>
              <a:t>  - Tại mỗi bước, chọn thuộc tính tốt nhất và loại bỏ thuộc tính tệ nhất.</a:t>
            </a:r>
          </a:p>
          <a:p>
            <a:pPr algn="l">
              <a:defRPr sz="1800">
                <a:solidFill>
                  <a:srgbClr val="000000"/>
                </a:solidFill>
              </a:defRPr>
            </a:pPr>
            <a:r>
              <a:t>4. Cây quyết định (Decision Tree Induction):</a:t>
            </a:r>
          </a:p>
          <a:p>
            <a:pPr algn="l" lvl="1">
              <a:defRPr sz="1800">
                <a:solidFill>
                  <a:srgbClr val="000000"/>
                </a:solidFill>
              </a:defRPr>
            </a:pPr>
            <a:r>
              <a:t>  - Xây dựng cây quyết định (VD: ID3, C4.5, CART).</a:t>
            </a:r>
          </a:p>
          <a:p>
            <a:pPr algn="l" lvl="1">
              <a:defRPr sz="1800">
                <a:solidFill>
                  <a:srgbClr val="000000"/>
                </a:solidFill>
              </a:defRPr>
            </a:pPr>
            <a:r>
              <a:t>  - Các thuộc tính không xuất hiện trong cây được coi là không liên quan.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0000"/>
                </a:solidFill>
              </a:defRPr>
            </a:pPr>
            <a:r>
              <a:t>Tiêu chí dừng và xây dựng thuộc tính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 lvl="1">
              <a:defRPr sz="1800">
                <a:solidFill>
                  <a:srgbClr val="000000"/>
                </a:solidFill>
              </a:defRPr>
            </a:pPr>
            <a:r>
              <a:t>• Tiêu chí dừng:</a:t>
            </a:r>
          </a:p>
          <a:p>
            <a:pPr algn="l" lvl="1">
              <a:defRPr sz="1800">
                <a:solidFill>
                  <a:srgbClr val="000000"/>
                </a:solidFill>
              </a:defRPr>
            </a:pPr>
            <a:r>
              <a:t>  - Sử dụng ngưỡng trên thước đo để quyết định khi nào dừng quá trình lựa chọn.</a:t>
            </a:r>
          </a:p>
          <a:p>
            <a:pPr algn="l" lvl="1">
              <a:defRPr sz="1800">
                <a:solidFill>
                  <a:srgbClr val="000000"/>
                </a:solidFill>
              </a:defRPr>
            </a:pPr>
            <a:r>
              <a:t>• Xây dựng thuộc tính (Attribute Construction):</a:t>
            </a:r>
          </a:p>
          <a:p>
            <a:pPr algn="l" lvl="1">
              <a:defRPr sz="1800">
                <a:solidFill>
                  <a:srgbClr val="000000"/>
                </a:solidFill>
              </a:defRPr>
            </a:pPr>
            <a:r>
              <a:t>  - Tạo thuộc tính mới dựa trên các thuộc tính hiện có (VD: diện tích từ chiều cao và chiều rộng).</a:t>
            </a:r>
          </a:p>
          <a:p>
            <a:pPr algn="l" lvl="1">
              <a:defRPr sz="1800">
                <a:solidFill>
                  <a:srgbClr val="000000"/>
                </a:solidFill>
              </a:defRPr>
            </a:pPr>
            <a:r>
              <a:t>  - Giúp cải thiện độ chính xác và hiểu cấu trúc dữ liệu chiều cao.</a:t>
            </a:r>
          </a:p>
          <a:p>
            <a:pPr algn="l" lvl="1">
              <a:defRPr sz="1800">
                <a:solidFill>
                  <a:srgbClr val="000000"/>
                </a:solidFill>
              </a:defRPr>
            </a:pPr>
            <a:r>
              <a:t>  - Phát hiện thông tin bị thiếu về mối quan hệ giữa các thuộc tính.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0000"/>
                </a:solidFill>
              </a:defRPr>
            </a:pPr>
            <a:r>
              <a:t>Hình minh họa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 lvl="1">
              <a:defRPr sz="1800">
                <a:solidFill>
                  <a:srgbClr val="000000"/>
                </a:solidFill>
              </a:defRPr>
            </a:pPr>
            <a:r>
              <a:t>• Hình 2.18: Các phương pháp heuristic cho lựa chọn tập con thuộc tính.</a:t>
            </a:r>
          </a:p>
          <a:p>
            <a:pPr algn="l" lvl="1">
              <a:defRPr sz="1800">
                <a:solidFill>
                  <a:srgbClr val="000000"/>
                </a:solidFill>
              </a:defRPr>
            </a:pPr>
            <a:r>
              <a:t>• Chú thích: Cần thêm hình minh họa để thể hiện các phương pháp heuristic (ví dụ: sơ đồ luồng hoặc cây quyết định).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